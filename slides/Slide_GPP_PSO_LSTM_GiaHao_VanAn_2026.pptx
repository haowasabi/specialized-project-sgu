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embeddedFontLst>
    <p:embeddedFont>
      <p:font typeface="Calibri" panose="020F0502020204030204"/>
      <p:regular r:id="rId19"/>
    </p:embeddedFont>
    <p:embeddedFont>
      <p:font typeface="Google Sans Medium"/>
      <p:regular r:id="rId20"/>
      <p:bold r:id="rId21"/>
      <p:italic r:id="rId22"/>
      <p:boldItalic r:id="rId23"/>
    </p:embeddedFont>
    <p:embeddedFont>
      <p:font typeface="Google Sans"/>
      <p:regular r:id="rId24"/>
      <p:bold r:id="rId25"/>
      <p:italic r:id="rId26"/>
      <p:boldItalic r:id="rId27"/>
    </p:embeddedFont>
    <p:embeddedFont>
      <p:font typeface="Consolas" panose="020B0609020204030204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MAE so sánh (USD)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(USD)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F2937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Bộ 1</c:v>
                </c:pt>
                <c:pt idx="1">
                  <c:v>Bộ 2</c:v>
                </c:pt>
                <c:pt idx="2">
                  <c:v>Bộ 3</c:v>
                </c:pt>
                <c:pt idx="3">
                  <c:v>Bộ 4</c:v>
                </c:pt>
                <c:pt idx="4">
                  <c:v>Baseline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286.41</c:v>
                </c:pt>
                <c:pt idx="1">
                  <c:v>74.21</c:v>
                </c:pt>
                <c:pt idx="2">
                  <c:v>141.69</c:v>
                </c:pt>
                <c:pt idx="3">
                  <c:v>103.77</c:v>
                </c:pt>
                <c:pt idx="4">
                  <c:v>187.75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5cc4704-adff-4863-b1d3-2163ec3a4a3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Directional Accuracy (%)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Directional Accuracy (%)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F2937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Bộ 1</c:v>
                </c:pt>
                <c:pt idx="1">
                  <c:v>Bộ 2</c:v>
                </c:pt>
                <c:pt idx="2">
                  <c:v>Bộ 3</c:v>
                </c:pt>
                <c:pt idx="3">
                  <c:v>Bộ 4</c:v>
                </c:pt>
                <c:pt idx="4">
                  <c:v>Baseline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53.19</c:v>
                </c:pt>
                <c:pt idx="1">
                  <c:v>53.83</c:v>
                </c:pt>
                <c:pt idx="2">
                  <c:v>51.91</c:v>
                </c:pt>
                <c:pt idx="3">
                  <c:v>55.32</c:v>
                </c:pt>
                <c:pt idx="4">
                  <c:v>42.55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03c52e0-780a-44bd-8ca4-7ab653578e03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2" name="Google Shape;452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6" name="Google Shape;486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0" y="365760"/>
            <a:ext cx="2286000" cy="2286000"/>
          </a:xfrm>
          <a:prstGeom prst="ellipse">
            <a:avLst/>
          </a:prstGeom>
          <a:solidFill>
            <a:srgbClr val="C9A84C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F0C04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589520" y="182880"/>
            <a:ext cx="1097280" cy="1097280"/>
          </a:xfrm>
          <a:prstGeom prst="ellipse">
            <a:avLst/>
          </a:prstGeom>
          <a:solidFill>
            <a:srgbClr val="E8A020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0040" y="2743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 panose="020F0502020204030204"/>
              <a:buNone/>
            </a:pPr>
            <a:r>
              <a:rPr lang="en-US" sz="1200" i="1" u="none" strike="noStrike" cap="none">
                <a:solidFill>
                  <a:srgbClr val="C9A84C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Trường Đại học Sài Gòn — Khoa Công nghệ Thông tin</a:t>
            </a:r>
            <a:endParaRPr sz="12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" y="96012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 panose="020F0502020204030204"/>
              <a:buNone/>
            </a:pPr>
            <a:r>
              <a:rPr lang="en-US" sz="420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THUẬT TOÁN PSO</a:t>
            </a:r>
            <a:endParaRPr sz="42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20040" y="169164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600"/>
              <a:buFont typeface="Calibri" panose="020F0502020204030204"/>
              <a:buNone/>
            </a:pPr>
            <a:r>
              <a:rPr lang="en-US" sz="2600" i="0" u="none" strike="noStrike" cap="none">
                <a:solidFill>
                  <a:srgbClr val="F0C04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Giải Bài Toán Dự Đoán Giá Vàng</a:t>
            </a:r>
            <a:endParaRPr sz="26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0040" y="22402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 panose="020F0502020204030204"/>
              <a:buNone/>
            </a:pPr>
            <a:r>
              <a:rPr lang="en-US" sz="1800" i="1" u="none" strike="noStrike" cap="none">
                <a:solidFill>
                  <a:srgbClr val="E5E7EB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Dựa vào Dữ liệu Thời gian Thực</a:t>
            </a:r>
            <a:endParaRPr sz="18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0040" y="2788920"/>
            <a:ext cx="41148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20040" y="2971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Nguyễn Văn An  |  Trương Gia Hào</a:t>
            </a:r>
            <a:endParaRPr sz="14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20040" y="3291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GVHD: TS. Phan Tấn Quốc  |  Năm 2026</a:t>
            </a:r>
            <a:endParaRPr sz="12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0040" y="4251960"/>
            <a:ext cx="182880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20040" y="425196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5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0D1B3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ĐỒ ÁN CHUYÊN NGÀNH</a:t>
            </a:r>
            <a:endParaRPr sz="100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NỘI DUNG TRÌNH BÀY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01</a:t>
            </a:r>
            <a:endParaRPr sz="18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05840" y="1051560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05840" y="1051560"/>
            <a:ext cx="64008" cy="47548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70432" y="1051560"/>
            <a:ext cx="47548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Giới thiệu &amp; Lý do chọn đề tài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170432" y="128016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Tầm quan trọng của vàng, bài toán và hướng tiếp cận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1801368"/>
            <a:ext cx="502920" cy="566928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1801368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 sz="18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05840" y="1847088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05840" y="1847088"/>
            <a:ext cx="64008" cy="47548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70432" y="1847088"/>
            <a:ext cx="47548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Tổng quan bài toán GPP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70432" y="2075688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Phát biểu, các yếu tố ảnh hưởng, các phương pháp hiện có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2596896"/>
            <a:ext cx="502920" cy="566928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2596896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 sz="18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05840" y="2642616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05840" y="2642616"/>
            <a:ext cx="64008" cy="47548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70432" y="2642616"/>
            <a:ext cx="47548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Cơ sở lý thuyết</a:t>
            </a:r>
            <a:endParaRPr sz="13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70432" y="2871216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Mạng LSTM, Thuật toán PSO, Mô hình lai PSO-LSTM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65760" y="3392424"/>
            <a:ext cx="502920" cy="566928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65760" y="3392424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 sz="18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005840" y="3438144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05840" y="3438144"/>
            <a:ext cx="64008" cy="47548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70432" y="3438144"/>
            <a:ext cx="47548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Thực nghiệm &amp; Kết quả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70432" y="3666744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Dữ liệu, thiết kế thực nghiệm, 5 bộ kết quả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5760" y="4187952"/>
            <a:ext cx="502920" cy="566928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65760" y="4187952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 sz="18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005840" y="4233672"/>
            <a:ext cx="7772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005840" y="4233672"/>
            <a:ext cx="64008" cy="47548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70432" y="4233672"/>
            <a:ext cx="47548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Kết luận &amp; Hướng phát triển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170432" y="4462272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Đánh giá tổng hợp và hướng mở rộng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GIỚI THIỆU ĐỀ TÀI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" y="1005840"/>
            <a:ext cx="402336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📈  Tại sao giá vàng?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14173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Giá trị trú ẩn an toàn, chịu ảnh hưởng từ lạm phát, lãi suất, địa chính trị. Dự báo chính xác = lợi thế đầu tư.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2304288"/>
            <a:ext cx="402336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65760" y="2304288"/>
            <a:ext cx="40233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23957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🤖  Tại sao AI/PSO?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271576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Mô hình truyền thống dễ rơi vào cực trị cục bộ. PSO giúp tìm tham số tối ưu toàn cục cho mạng LSTM.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3602736"/>
            <a:ext cx="402336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65760" y="3602736"/>
            <a:ext cx="40233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369417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🎯  Mục tiêu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4014216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Xây dựng mô hình PSO-LSTM dự báo giá vàng; so sánh với LSTM Baseline qua MAE, RMSE, MAPE, R².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63440" y="1005840"/>
            <a:ext cx="4114800" cy="3154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709160" y="10058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Biến số đầu vào (Exogenous)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63440" y="1463040"/>
            <a:ext cx="4114800" cy="34747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09160" y="1463040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GC=F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715000" y="1463040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Giá vàng tương lai (mục tiêu)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663440" y="1819656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709160" y="1819656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DXY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715000" y="1819656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Chỉ số đô la Mỹ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663440" y="2176272"/>
            <a:ext cx="4114800" cy="34747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709160" y="2176272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CL=F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715000" y="2176272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Giá dầu thô WTI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663440" y="2532888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09160" y="2532888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^GSPC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715000" y="2532888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Chỉ số S&amp;P 500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663440" y="2889504"/>
            <a:ext cx="4114800" cy="34747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09160" y="2889504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^TNX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715000" y="2889504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Lợi suất TP kỳ hạn 10 năm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663440" y="3246120"/>
            <a:ext cx="4114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709160" y="3246120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Volume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715000" y="324612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Khối lượng giao dịch vàng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 panose="020F0502020204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TỔNG QUAN BÀI TOÁN GPP &amp; CÁC HƯỚNG TIẾP CẬN</a:t>
            </a:r>
            <a:endParaRPr sz="2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" y="10058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Phát biểu bài toán (Gold Price Prediction – GPP)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13258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 panose="020F0502020204030204"/>
              <a:buNone/>
            </a:pPr>
            <a:r>
              <a:rPr lang="en-US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Cho chuỗi lịch sử  st = [xt, xt-1, …, xt-k]ᵀ  →  Tìm hàm  f  sao cho  x̂t+h = f(st, φ)  tối thiểu hóa sai số dự báo. Trong đó φ là các biến ngoại sinh (DXY, lãi suất, S&amp;P 500…).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65760" y="2103120"/>
            <a:ext cx="19659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5760" y="2103120"/>
            <a:ext cx="1965960" cy="914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38912" y="2176272"/>
            <a:ext cx="18196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Thống kê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Truyền thống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75488" y="2761488"/>
            <a:ext cx="17373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28346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Google Sans"/>
                <a:ea typeface="Google Sans"/>
                <a:cs typeface="Google Sans"/>
                <a:sym typeface="Google Sans"/>
              </a:rPr>
              <a:t>✔ Đơn giản, giải thích được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349300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Google Sans"/>
                <a:ea typeface="Google Sans"/>
                <a:cs typeface="Google Sans"/>
                <a:sym typeface="Google Sans"/>
              </a:rPr>
              <a:t>✘ Giả định tuyến tính, kém với phi tuyến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14600" y="2103120"/>
            <a:ext cx="19659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514600" y="2103120"/>
            <a:ext cx="1965960" cy="91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587752" y="2176272"/>
            <a:ext cx="18196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Học máy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(ML)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624328" y="2761488"/>
            <a:ext cx="17373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606040" y="28346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Google Sans"/>
                <a:ea typeface="Google Sans"/>
                <a:cs typeface="Google Sans"/>
                <a:sym typeface="Google Sans"/>
              </a:rPr>
              <a:t>✔ Xử lý phi tuyến tốt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606040" y="349300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Google Sans"/>
                <a:ea typeface="Google Sans"/>
                <a:cs typeface="Google Sans"/>
                <a:sym typeface="Google Sans"/>
              </a:rPr>
              <a:t>✘ Phụ thuộc đặc trưng, cần chuyên gia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663440" y="2103120"/>
            <a:ext cx="19659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63440" y="2103120"/>
            <a:ext cx="196596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36592" y="2176272"/>
            <a:ext cx="18196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Học sâu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(LSTM…)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73168" y="2761488"/>
            <a:ext cx="17373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754880" y="28346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Google Sans"/>
                <a:ea typeface="Google Sans"/>
                <a:cs typeface="Google Sans"/>
                <a:sym typeface="Google Sans"/>
              </a:rPr>
              <a:t>✔ Ghi nhớ dài hạn tự động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54880" y="349300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DC2626"/>
                </a:solidFill>
                <a:latin typeface="Google Sans"/>
                <a:ea typeface="Google Sans"/>
                <a:cs typeface="Google Sans"/>
                <a:sym typeface="Google Sans"/>
              </a:rPr>
              <a:t>✘ Cần data lớn, dễ overfitting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812280" y="2103120"/>
            <a:ext cx="1965960" cy="265176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812280" y="2103120"/>
            <a:ext cx="196596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885432" y="2176272"/>
            <a:ext cx="181965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Lai &amp;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Metaheuristic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922008" y="2761488"/>
            <a:ext cx="173736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903720" y="283464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A7F3D0"/>
                </a:solidFill>
                <a:latin typeface="Google Sans"/>
                <a:ea typeface="Google Sans"/>
                <a:cs typeface="Google Sans"/>
                <a:sym typeface="Google Sans"/>
              </a:rPr>
              <a:t>✔ Tránh cực trị cục bộ, tối ưu tự động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903720" y="349300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95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CA5A5"/>
                </a:solidFill>
                <a:latin typeface="Google Sans"/>
                <a:ea typeface="Google Sans"/>
                <a:cs typeface="Google Sans"/>
                <a:sym typeface="Google Sans"/>
              </a:rPr>
              <a:t>✘ Cấu trúc phức tạp, huấn luyện lâu</a:t>
            </a:r>
            <a:endParaRPr sz="12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809812" y="4617720"/>
            <a:ext cx="1965900" cy="2286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797988" y="4617725"/>
            <a:ext cx="196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✦ Đề tài lựa chọn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CƠ SỞ LÝ THUYẾT — MẠNG LSTM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20040" y="96012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0040" y="960120"/>
            <a:ext cx="109728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" y="99669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Forget Gate (ft)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02920" y="122529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onsolas" panose="020B0609020204030204"/>
              <a:buNone/>
            </a:pPr>
            <a:r>
              <a:rPr lang="en-US" sz="1200" i="0" u="none" strike="noStrike" cap="none">
                <a:solidFill>
                  <a:srgbClr val="EF4444"/>
                </a:solidFill>
                <a:latin typeface="Google Sans"/>
                <a:ea typeface="Google Sans"/>
                <a:cs typeface="Google Sans"/>
                <a:sym typeface="Google Sans"/>
              </a:rPr>
              <a:t>ft = σ(Wf·[ht-1, xt] + bf)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02920" y="147218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Quyết định thông tin cũ nào cần xóa bỏ (0→quên, 1→giữ)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0040" y="192024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0040" y="1920240"/>
            <a:ext cx="10972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2920" y="195681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Input Gate (it)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2920" y="218541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onsolas" panose="020B0609020204030204"/>
              <a:buNone/>
            </a:pPr>
            <a:r>
              <a:rPr lang="en-US" sz="1200" i="0" u="none" strike="noStrike" cap="none">
                <a:solidFill>
                  <a:srgbClr val="3B82F6"/>
                </a:solidFill>
                <a:latin typeface="Google Sans"/>
                <a:ea typeface="Google Sans"/>
                <a:cs typeface="Google Sans"/>
                <a:sym typeface="Google Sans"/>
              </a:rPr>
              <a:t>it = σ(Wi·[ht-1, xt] + bi)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02920" y="243230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Quyết định thông tin mới nào cần ghi nhớ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0040" y="288036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0040" y="2880360"/>
            <a:ext cx="10972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2920" y="291693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Cell State (Ct)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02920" y="314553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 panose="020B0609020204030204"/>
              <a:buNone/>
            </a:pPr>
            <a:r>
              <a:rPr lang="en-US" sz="1200" i="0" u="none" strike="noStrike" cap="none">
                <a:solidFill>
                  <a:srgbClr val="10B981"/>
                </a:solidFill>
                <a:latin typeface="Google Sans"/>
                <a:ea typeface="Google Sans"/>
                <a:cs typeface="Google Sans"/>
                <a:sym typeface="Google Sans"/>
              </a:rPr>
              <a:t>Ct = ft⊙Ct-1 + it⊙C~t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02920" y="339242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Bộ nhớ dài hạn — trục thẳng thông tin qua thời gian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0040" y="384048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0040" y="3840480"/>
            <a:ext cx="109728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" y="387705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Output Gate (ot)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2920" y="410565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onsolas" panose="020B0609020204030204"/>
              <a:buNone/>
            </a:pPr>
            <a:r>
              <a:rPr lang="en-US" sz="1200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ht = ot ⊙ tanh(Ct)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02920" y="4352544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Quyết định trạng thái ẩn đầu ra cho bước tiếp theo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577840" y="960120"/>
            <a:ext cx="3200400" cy="333756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669280" y="1024128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Tại sao LSTM phù hợp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với dự báo giá vàng?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760720" y="1645920"/>
            <a:ext cx="28346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669280" y="17830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▸  Ghi nhớ phụ thuộc dài hạn (hàng tháng)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669280" y="22402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▸  Cổng quên giúp loại nhiễu thị trường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669280" y="26974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▸  Vượt trội RNN về gradient vanishing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669280" y="31546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▸  Xử lý chuỗi đa biến (DXY, Oil, SP500…)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669280" y="36118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▸  Được kiểm chứng rộng rãi trong tài chính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CƠ SỞ LÝ THUYẾT — THUẬT TOÁN PSO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i="1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Particle Swarm Optimization (Kennedy &amp; Eberhart, 1995)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5760" y="1298448"/>
            <a:ext cx="4754880" cy="1417320"/>
          </a:xfrm>
          <a:prstGeom prst="rect">
            <a:avLst/>
          </a:prstGeom>
          <a:solidFill>
            <a:srgbClr val="0A152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60" y="1298448"/>
            <a:ext cx="475488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129844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Công thức cập nhật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57200" y="171907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nsolas" panose="020B0609020204030204"/>
              <a:buNone/>
            </a:pPr>
            <a:r>
              <a:rPr lang="en-US" sz="1200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Vận tốc:   v(t+1) = v(t) + α·ε₁⊙[g*–x(t)] + β·ε₂⊙[x*–x(t)]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20848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nsolas" panose="020B0609020204030204"/>
              <a:buNone/>
            </a:pPr>
            <a:r>
              <a:rPr lang="en-US" sz="1200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Vị trí:      x(t+1) = x(t) + v(t+1)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24231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 panose="020F0502020204030204"/>
              <a:buNone/>
            </a:pPr>
            <a:r>
              <a:rPr lang="en-US" sz="95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α, β: hằng số gia tốc  |  ε₁, ε₂: ngẫu nhiên [0,1]</a:t>
            </a:r>
            <a:endParaRPr sz="95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303520" y="1298448"/>
            <a:ext cx="3474720" cy="594360"/>
          </a:xfrm>
          <a:prstGeom prst="rect">
            <a:avLst/>
          </a:prstGeom>
          <a:solidFill>
            <a:srgbClr val="0A152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303520" y="1298448"/>
            <a:ext cx="9144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440680" y="13441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Google Sans"/>
                <a:ea typeface="Google Sans"/>
                <a:cs typeface="Google Sans"/>
                <a:sym typeface="Google Sans"/>
              </a:rPr>
              <a:t>pBest (x*)</a:t>
            </a:r>
            <a:endParaRPr sz="13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440680" y="15727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Vị trí tốt nhất cá nhân — kinh nghiệm riêng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303520" y="2002536"/>
            <a:ext cx="3474720" cy="594360"/>
          </a:xfrm>
          <a:prstGeom prst="rect">
            <a:avLst/>
          </a:prstGeom>
          <a:solidFill>
            <a:srgbClr val="0A152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303520" y="2002536"/>
            <a:ext cx="914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440680" y="204825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0B981"/>
                </a:solidFill>
                <a:latin typeface="Google Sans"/>
                <a:ea typeface="Google Sans"/>
                <a:cs typeface="Google Sans"/>
                <a:sym typeface="Google Sans"/>
              </a:rPr>
              <a:t>gBest (g*)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40680" y="227685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Vị trí tốt nhất toàn bầy — tri thức tập thể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65760" y="2926080"/>
            <a:ext cx="2679192" cy="150876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65760" y="2926080"/>
            <a:ext cx="267919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75488" y="30358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Không cần đạo hàm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75488" y="3401568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Áp dụng được với hàm mục tiêu không liên tục, không khả vi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227832" y="2926080"/>
            <a:ext cx="2679192" cy="150876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227832" y="2926080"/>
            <a:ext cx="267919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337560" y="30358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Tránh cực trị cục bộ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337560" y="3401568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Nhiều hạt tìm kiếm song song, thành phần ngẫu nhiên giúp khám phá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089904" y="2926080"/>
            <a:ext cx="2679192" cy="1508760"/>
          </a:xfrm>
          <a:prstGeom prst="rect">
            <a:avLst/>
          </a:prstGeom>
          <a:solidFill>
            <a:srgbClr val="1A2F5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089904" y="2926080"/>
            <a:ext cx="267919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199632" y="30358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Hội tụ nhanh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199632" y="3401568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Chia sẻ thông tin gBest giúp quần thể hội tụ nhanh về nghiệm tốt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Không gian tìm kiếm PSO (6 chiều):  Look-back [15–120]  |  Hidden Units [50–220]  |  LR [0.0001–0.01]  |  Batch [16–128]  |  Layers [1–3]  |  Dropout [0–0.3]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MÔ HÌNH LAI PSO-LSTM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74320" y="914400"/>
            <a:ext cx="5303520" cy="3931920"/>
          </a:xfrm>
          <a:prstGeom prst="rect">
            <a:avLst/>
          </a:prstGeom>
          <a:solidFill>
            <a:srgbClr val="FFF3C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74320" y="914400"/>
            <a:ext cx="5303520" cy="347472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20040" y="914400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GIAI ĐOẠN 1: TỐI ƯU HÓA (PSO)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1371600"/>
            <a:ext cx="4937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57200" y="1371600"/>
            <a:ext cx="73152" cy="4572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94360" y="13716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1. </a:t>
            </a: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Khởi tạo quần thể hạt (mỗi hạt = 1 bộ siêu tham số LSTM)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57200" y="1920240"/>
            <a:ext cx="4937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1920240"/>
            <a:ext cx="73152" cy="4572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94360" y="19202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2. </a:t>
            </a: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Huấn luyện LSTM → tính hàm thích nghi (RMSE + MAPE)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57200" y="2468880"/>
            <a:ext cx="4937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2468880"/>
            <a:ext cx="73152" cy="4572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94360" y="2468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3. </a:t>
            </a: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So sánh với pBest &amp; gBest → cập nhật nghiệm tốt nhất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57200" y="3017520"/>
            <a:ext cx="4937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57200" y="3017520"/>
            <a:ext cx="73152" cy="4572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94360" y="30175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4. </a:t>
            </a: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Cập nhật vận tốc &amp; vị trí hạt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57200" y="3566160"/>
            <a:ext cx="4937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57200" y="3566160"/>
            <a:ext cx="73152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94360" y="35661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5. </a:t>
            </a: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Lặp đến khi đủ số vòng lặp → Xuất gBest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760720" y="914400"/>
            <a:ext cx="3063240" cy="393192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760720" y="914400"/>
            <a:ext cx="306324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806440" y="914400"/>
            <a:ext cx="2971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GIAI ĐOẠN 2: DỰ BÁO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943600" y="137160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943600" y="1371600"/>
            <a:ext cx="2697480" cy="6400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989320" y="141732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Nhận bộ tham số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tối ưu từ PSO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943600" y="219456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943600" y="2194560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989320" y="22402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Huấn luyện LSTM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final trên Train set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943600" y="301752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943600" y="3017520"/>
            <a:ext cx="26974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989320" y="306324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Dự báo trên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Test set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943600" y="3840480"/>
            <a:ext cx="26974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943600" y="3840480"/>
            <a:ext cx="269748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989320" y="388620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Tính MAE, RMSE,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MAPE, R², DA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476588" y="2468875"/>
            <a:ext cx="3756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000"/>
              <a:buFont typeface="Calibri" panose="020F0502020204030204"/>
              <a:buNone/>
            </a:pPr>
            <a:r>
              <a:rPr lang="en-US" sz="2000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→</a:t>
            </a:r>
            <a:endParaRPr sz="2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THIẾT KẾ THỰC NGHIỆM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5760" y="960120"/>
            <a:ext cx="26974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65760" y="960120"/>
            <a:ext cx="269748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57200" y="9601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Dữ liệu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57200" y="1389888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Yahoo Finance API (yfinance)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57200" y="1773936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01/01/2015 → hiện tại (ngày)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57200" y="21579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6 biến: Gold, DXY, Oil, SP500, Bond, Vol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57200" y="25420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Xử lý: ffill + MinMaxScaler [0,1]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227832" y="960120"/>
            <a:ext cx="26974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227832" y="960120"/>
            <a:ext cx="269748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319272" y="9601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Môi trường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319272" y="1389888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Google Colab (GPU T4)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319272" y="1773936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Python: TensorFlow / Keras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319272" y="21579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Thư viện: yfinance, Pandas, NumPy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319272" y="25420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Phân chia: Train 80% / Test 20%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089904" y="960120"/>
            <a:ext cx="269748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089904" y="960120"/>
            <a:ext cx="269748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181344" y="9601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Windowing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181344" y="1389888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Cấu trúc: (samples, time_steps, features)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6181344" y="1773936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Look-back tối ưu: 18–110 ngày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181344" y="21579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Target: Gold_Close tại t+1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181344" y="25420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• Sliding window không chồng lấp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57200" y="324612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Các bộ cấu hình PSO thực nghiệm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65760" y="3593592"/>
            <a:ext cx="914400" cy="237744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11480" y="359359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1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1280160" y="3593592"/>
            <a:ext cx="128016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1325880" y="359359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30 hạt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2560320" y="3593592"/>
            <a:ext cx="128016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2606040" y="359359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20 vòng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840480" y="3593592"/>
            <a:ext cx="128016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3886200" y="359359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w=0.4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120640" y="3593592"/>
            <a:ext cx="320040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166360" y="359359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Quần thể rộng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65760" y="3840480"/>
            <a:ext cx="914400" cy="237744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11480" y="3840480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2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280160" y="3840480"/>
            <a:ext cx="12801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1325880" y="384048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10 hạt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2560320" y="3840480"/>
            <a:ext cx="12801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606040" y="384048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10 vòng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840480" y="3840480"/>
            <a:ext cx="12801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886200" y="384048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w=0.9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120640" y="3840480"/>
            <a:ext cx="32004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166360" y="3840480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Hội tụ nhanh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65760" y="4087368"/>
            <a:ext cx="914400" cy="237744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11480" y="4087368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3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1280160" y="4087368"/>
            <a:ext cx="128016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325880" y="408736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12 hạt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560320" y="4087368"/>
            <a:ext cx="128016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606040" y="408736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10 vòng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3840480" y="4087368"/>
            <a:ext cx="128016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3886200" y="408736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w=0.78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120640" y="4087368"/>
            <a:ext cx="3200400" cy="23774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166360" y="4087368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Cân bằng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365760" y="4334256"/>
            <a:ext cx="914400" cy="237744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11480" y="433425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4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1280160" y="4334256"/>
            <a:ext cx="12801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1325880" y="433425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12 hạt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2560320" y="4334256"/>
            <a:ext cx="12801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2606040" y="433425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10 vòng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840480" y="4334256"/>
            <a:ext cx="12801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3886200" y="4334256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w=0.9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5120640" y="4334256"/>
            <a:ext cx="32004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166360" y="4334256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 panose="020F0502020204030204"/>
              <a:buNone/>
            </a:pPr>
            <a:r>
              <a:rPr lang="en-US" sz="1200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Mở rộng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365760" y="4581144"/>
            <a:ext cx="914400" cy="237744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11480" y="458114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Baseline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280160" y="4581144"/>
            <a:ext cx="1280160" cy="23774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1325880" y="458114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–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2560320" y="4581144"/>
            <a:ext cx="1280160" cy="23774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2606040" y="458114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–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3840480" y="4581144"/>
            <a:ext cx="1280160" cy="23774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3886200" y="458114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–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5120640" y="4581144"/>
            <a:ext cx="3200400" cy="23774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5166360" y="4581144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000"/>
              <a:buFont typeface="Calibri" panose="020F0502020204030204"/>
              <a:buNone/>
            </a:pPr>
            <a:r>
              <a:rPr lang="en-US" sz="1000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LSTM cố định (đối chứng)</a:t>
            </a:r>
            <a:endParaRPr sz="1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KẾT QUẢ THỰC NGHIỆM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274320" y="960120"/>
            <a:ext cx="182880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20040" y="960120"/>
            <a:ext cx="1783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Mô hình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2103120" y="960120"/>
            <a:ext cx="128016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2148840" y="960120"/>
            <a:ext cx="1234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MAE (USD)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3383280" y="960120"/>
            <a:ext cx="128016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429000" y="960120"/>
            <a:ext cx="1234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RMSE (USD)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663440" y="960120"/>
            <a:ext cx="100584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709160" y="960120"/>
            <a:ext cx="960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MAPE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669280" y="960120"/>
            <a:ext cx="91440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715000" y="960120"/>
            <a:ext cx="868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R²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6583680" y="960120"/>
            <a:ext cx="118872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629400" y="960120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Dir. Acc.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274320" y="1389888"/>
            <a:ext cx="1828800" cy="438912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20040" y="138988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1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2103120" y="1389888"/>
            <a:ext cx="128016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148840" y="138988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286.41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383280" y="1389888"/>
            <a:ext cx="128016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429000" y="138988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307.65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663440" y="1389888"/>
            <a:ext cx="100584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4709160" y="1389888"/>
            <a:ext cx="960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5.79%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5669280" y="1389888"/>
            <a:ext cx="91440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715000" y="138988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-5.24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583680" y="1389888"/>
            <a:ext cx="118872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629400" y="138988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53.19%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74320" y="1892808"/>
            <a:ext cx="1828800" cy="438912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320040" y="189280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2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2103120" y="1892808"/>
            <a:ext cx="1280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2148840" y="189280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74.21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3383280" y="1892808"/>
            <a:ext cx="1280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429000" y="189280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114.36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4663440" y="1892808"/>
            <a:ext cx="1005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709160" y="1892808"/>
            <a:ext cx="9600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2.13%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5669280" y="1892808"/>
            <a:ext cx="914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5715000" y="189280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vi-VN" alt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0.</a:t>
            </a: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9</a:t>
            </a:r>
            <a:r>
              <a:rPr lang="vi-VN" alt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8</a:t>
            </a:r>
            <a:endParaRPr lang="vi-VN" altLang="en-US" sz="1200" i="0" u="none" strike="noStrike" cap="none">
              <a:solidFill>
                <a:srgbClr val="1F293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6583680" y="1892808"/>
            <a:ext cx="11887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6629400" y="189280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53.83%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274320" y="2395728"/>
            <a:ext cx="1828800" cy="438912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20040" y="239572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Bộ 3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2103120" y="2395728"/>
            <a:ext cx="128016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2148840" y="239572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141.69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383280" y="2395728"/>
            <a:ext cx="128016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429000" y="239572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193.97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663440" y="2395728"/>
            <a:ext cx="100584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09160" y="2395728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3.83%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5669280" y="2395728"/>
            <a:ext cx="91440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5715000" y="239572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0.95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6583680" y="2395728"/>
            <a:ext cx="118872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6629400" y="239572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51.91%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274320" y="2898648"/>
            <a:ext cx="1828800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320040" y="289864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Bộ 4 ★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2103120" y="2898648"/>
            <a:ext cx="128016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2148840" y="289864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103.77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3383280" y="2898648"/>
            <a:ext cx="128016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3429000" y="289864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143.03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4663440" y="2898648"/>
            <a:ext cx="100584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4709160" y="2898648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2.16%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5669280" y="2898648"/>
            <a:ext cx="9144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5715000" y="289864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0.67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6583680" y="2898648"/>
            <a:ext cx="118872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629400" y="289864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B45309"/>
                </a:solidFill>
                <a:latin typeface="Google Sans"/>
                <a:ea typeface="Google Sans"/>
                <a:cs typeface="Google Sans"/>
                <a:sym typeface="Google Sans"/>
              </a:rPr>
              <a:t>55.32%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274320" y="3401568"/>
            <a:ext cx="1828800" cy="43891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320040" y="3401568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LSTM Baseline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2103120" y="3401568"/>
            <a:ext cx="128016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2148840" y="340156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187.75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3383280" y="3401568"/>
            <a:ext cx="128016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3429000" y="3401568"/>
            <a:ext cx="12345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204.78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663440" y="3401568"/>
            <a:ext cx="100584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709160" y="3401568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3.80%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5669280" y="3401568"/>
            <a:ext cx="91440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5715000" y="3401568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0.33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6583680" y="3401568"/>
            <a:ext cx="1188720" cy="438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6629400" y="340156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42.55%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0D1B3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11480" y="4069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Điểm nổi bật: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411480" y="437083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Bộ 4 PSO-LSTM</a:t>
            </a: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: MAPE giảm từ 3.80% → 2.16% (−43%); Directional Accuracy 55.32% vs 42.55%  |  </a:t>
            </a:r>
            <a:r>
              <a:rPr lang="en-US" sz="1200" b="1" i="0" u="none" strike="noStrike" cap="none">
                <a:solidFill>
                  <a:srgbClr val="A7F3D0"/>
                </a:solidFill>
                <a:latin typeface="Google Sans"/>
                <a:ea typeface="Google Sans"/>
                <a:cs typeface="Google Sans"/>
                <a:sym typeface="Google Sans"/>
              </a:rPr>
              <a:t>Bộ 2</a:t>
            </a: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: MAE thấp nhất 74.21 USD (bám sát nhất về giá trị tuyệt đối)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3" name="Google Shape;433;p10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4" name="Google Shape;434;p10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PHÂN TÍCH KẾT QUẢ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435" name="Google Shape;435;p10"/>
          <p:cNvGraphicFramePr/>
          <p:nvPr/>
        </p:nvGraphicFramePr>
        <p:xfrm>
          <a:off x="274320" y="914400"/>
          <a:ext cx="4297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36" name="Google Shape;436;p10"/>
          <p:cNvGraphicFramePr/>
          <p:nvPr/>
        </p:nvGraphicFramePr>
        <p:xfrm>
          <a:off x="4754880" y="91440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7" name="Google Shape;437;p10"/>
          <p:cNvSpPr/>
          <p:nvPr/>
        </p:nvSpPr>
        <p:spPr>
          <a:xfrm>
            <a:off x="274320" y="3108960"/>
            <a:ext cx="27889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8" name="Google Shape;438;p10"/>
          <p:cNvSpPr/>
          <p:nvPr/>
        </p:nvSpPr>
        <p:spPr>
          <a:xfrm>
            <a:off x="274320" y="3108960"/>
            <a:ext cx="278892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9" name="Google Shape;439;p10"/>
          <p:cNvSpPr/>
          <p:nvPr/>
        </p:nvSpPr>
        <p:spPr>
          <a:xfrm>
            <a:off x="384048" y="3200400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Vai trò PSO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384048" y="3547872"/>
            <a:ext cx="257860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Tự động tìm 'điểm ngọt' (sweet spots) như Look-back 18+Hidden 102 (Bộ 2) mà thử sai thủ công khó đạt.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3246120" y="3108960"/>
            <a:ext cx="27889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2" name="Google Shape;442;p10"/>
          <p:cNvSpPr/>
          <p:nvPr/>
        </p:nvSpPr>
        <p:spPr>
          <a:xfrm>
            <a:off x="3246120" y="3108960"/>
            <a:ext cx="2788920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3" name="Google Shape;443;p10"/>
          <p:cNvSpPr/>
          <p:nvPr/>
        </p:nvSpPr>
        <p:spPr>
          <a:xfrm>
            <a:off x="3355848" y="3200400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Directional Accuracy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3355848" y="3547872"/>
            <a:ext cx="257860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Chỉ số quyết định trong tài chính. Bộ 4 đạt 55.32% — vượt Baseline 12.77 điểm phần trăm.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6217920" y="3108960"/>
            <a:ext cx="27889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" name="Google Shape;446;p10"/>
          <p:cNvSpPr/>
          <p:nvPr/>
        </p:nvSpPr>
        <p:spPr>
          <a:xfrm>
            <a:off x="6217920" y="3108960"/>
            <a:ext cx="278892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7" name="Google Shape;447;p10"/>
          <p:cNvSpPr/>
          <p:nvPr/>
        </p:nvSpPr>
        <p:spPr>
          <a:xfrm>
            <a:off x="6327648" y="3200400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F5E"/>
              </a:buClr>
              <a:buSzPts val="12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1A2F5E"/>
                </a:solidFill>
                <a:latin typeface="Google Sans"/>
                <a:ea typeface="Google Sans"/>
                <a:cs typeface="Google Sans"/>
                <a:sym typeface="Google Sans"/>
              </a:rPr>
              <a:t>Hạn chế còn lại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6327648" y="3547872"/>
            <a:ext cx="257860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1F2937"/>
                </a:solidFill>
                <a:latin typeface="Google Sans"/>
                <a:ea typeface="Google Sans"/>
                <a:cs typeface="Google Sans"/>
                <a:sym typeface="Google Sans"/>
              </a:rPr>
              <a:t>Mô hình underestimate ở giai đoạn tăng mạnh; chưa tích hợp Sentiment Analysis từ tin tức.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5" name="Google Shape;455;p1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6" name="Google Shape;456;p1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 panose="020F0502020204030204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KẾT LUẬN &amp; HƯỚNG PHÁT TRIỂN</a:t>
            </a:r>
            <a:endParaRPr sz="2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274320" y="960120"/>
            <a:ext cx="5029200" cy="3931920"/>
          </a:xfrm>
          <a:prstGeom prst="rect">
            <a:avLst/>
          </a:prstGeom>
          <a:solidFill>
            <a:srgbClr val="0A152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11"/>
          <p:cNvSpPr/>
          <p:nvPr/>
        </p:nvSpPr>
        <p:spPr>
          <a:xfrm>
            <a:off x="274320" y="960120"/>
            <a:ext cx="502920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9" name="Google Shape;459;p11"/>
          <p:cNvSpPr/>
          <p:nvPr/>
        </p:nvSpPr>
        <p:spPr>
          <a:xfrm>
            <a:off x="384048" y="96012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Google Sans"/>
                <a:ea typeface="Google Sans"/>
                <a:cs typeface="Google Sans"/>
                <a:sym typeface="Google Sans"/>
              </a:rPr>
              <a:t>Kết luận</a:t>
            </a:r>
            <a:endParaRPr sz="14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384048" y="1444752"/>
            <a:ext cx="4828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◆  Mô hình PSO-LSTM được thiết kế và triển khai thành công trên dữ liệu thực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84048" y="2066544"/>
            <a:ext cx="4828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◆  PSO giảm MAPE từ 3.80% → 2.16%, tăng Directional Accuracy lên 55.32%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384048" y="2688336"/>
            <a:ext cx="4828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◆  R² cải thiện mạnh: 0.33 (Baseline) → 0.67 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384048" y="3310128"/>
            <a:ext cx="4828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◆  Chứng minh metaheuristic hiệu quả trong không gian tham số LSTM phức tạp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384048" y="3931920"/>
            <a:ext cx="482803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◆  Quy trình xử lý dữ liệu đa biến linh hoạt, phù hợp thực tế thị trường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5486400" y="960120"/>
            <a:ext cx="3337560" cy="3931920"/>
          </a:xfrm>
          <a:prstGeom prst="rect">
            <a:avLst/>
          </a:prstGeom>
          <a:solidFill>
            <a:srgbClr val="0A152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6" name="Google Shape;466;p11"/>
          <p:cNvSpPr/>
          <p:nvPr/>
        </p:nvSpPr>
        <p:spPr>
          <a:xfrm>
            <a:off x="5486400" y="960120"/>
            <a:ext cx="3337560" cy="384048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7" name="Google Shape;467;p11"/>
          <p:cNvSpPr/>
          <p:nvPr/>
        </p:nvSpPr>
        <p:spPr>
          <a:xfrm>
            <a:off x="5577840" y="960120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 panose="020F0502020204030204"/>
              <a:buNone/>
            </a:pPr>
            <a:r>
              <a:rPr lang="en-US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 Hướng phát triển</a:t>
            </a:r>
            <a:endParaRPr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577840" y="1444752"/>
            <a:ext cx="3154680" cy="5486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9" name="Google Shape;469;p11"/>
          <p:cNvSpPr/>
          <p:nvPr/>
        </p:nvSpPr>
        <p:spPr>
          <a:xfrm>
            <a:off x="5650992" y="14630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→  Hybrid PSO: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5650992" y="166420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Kết hợp GA, ACO so sánh hiệu quả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5577840" y="2084832"/>
            <a:ext cx="3154680" cy="5486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2" name="Google Shape;472;p11"/>
          <p:cNvSpPr/>
          <p:nvPr/>
        </p:nvSpPr>
        <p:spPr>
          <a:xfrm>
            <a:off x="5650992" y="21031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→  Sentiment AI: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5650992" y="230428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Phân tích tin tức, mạng xã hội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5577840" y="2724912"/>
            <a:ext cx="3154680" cy="5486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5" name="Google Shape;475;p11"/>
          <p:cNvSpPr/>
          <p:nvPr/>
        </p:nvSpPr>
        <p:spPr>
          <a:xfrm>
            <a:off x="5650992" y="27432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→  Black Swan: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650992" y="294436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Tích hợp hệ tri thức chuyên gia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5577840" y="3364992"/>
            <a:ext cx="3154680" cy="5486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8" name="Google Shape;478;p11"/>
          <p:cNvSpPr/>
          <p:nvPr/>
        </p:nvSpPr>
        <p:spPr>
          <a:xfrm>
            <a:off x="5650992" y="33832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→  Multi-step: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5650992" y="358444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Dự báo đa bước (5/10/30 ngày)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5577840" y="4005072"/>
            <a:ext cx="3154680" cy="54864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1" name="Google Shape;481;p11"/>
          <p:cNvSpPr/>
          <p:nvPr/>
        </p:nvSpPr>
        <p:spPr>
          <a:xfrm>
            <a:off x="5650992" y="40233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rgbClr val="C9A84C"/>
                </a:solidFill>
                <a:latin typeface="Google Sans"/>
                <a:ea typeface="Google Sans"/>
                <a:cs typeface="Google Sans"/>
                <a:sym typeface="Google Sans"/>
              </a:rPr>
              <a:t>→  Mở rộng: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5650992" y="422452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Chứng khoán, crypto, hàng hóa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7315200" y="-274320"/>
            <a:ext cx="2560320" cy="2560320"/>
          </a:xfrm>
          <a:prstGeom prst="ellipse">
            <a:avLst/>
          </a:prstGeom>
          <a:solidFill>
            <a:srgbClr val="F0C040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8046720" y="457200"/>
            <a:ext cx="1371600" cy="1371600"/>
          </a:xfrm>
          <a:prstGeom prst="ellipse">
            <a:avLst/>
          </a:prstGeom>
          <a:solidFill>
            <a:srgbClr val="E8A02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57200" y="128016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4000"/>
              <a:buFont typeface="Calibri" panose="020F0502020204030204"/>
              <a:buNone/>
            </a:pPr>
            <a:r>
              <a:rPr lang="en-US" sz="4000" b="1" i="0" u="none" strike="noStrike" cap="none">
                <a:solidFill>
                  <a:srgbClr val="F0C040"/>
                </a:solidFill>
                <a:latin typeface="Google Sans"/>
                <a:ea typeface="Google Sans"/>
                <a:cs typeface="Google Sans"/>
                <a:sym typeface="Google Sans"/>
              </a:rPr>
              <a:t>CẢM ƠN QUÝ THẦY CÔ</a:t>
            </a:r>
            <a:endParaRPr sz="40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57200" y="20299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Calibri" panose="020F0502020204030204"/>
              <a:buNone/>
            </a:pPr>
            <a:r>
              <a:rPr lang="en-US" sz="1800" i="0" u="none" strike="noStrike" cap="none">
                <a:solidFill>
                  <a:srgbClr val="E5E7EB"/>
                </a:solidFill>
                <a:latin typeface="Google Sans"/>
                <a:ea typeface="Google Sans"/>
                <a:cs typeface="Google Sans"/>
                <a:sym typeface="Google Sans"/>
              </a:rPr>
              <a:t>VÀ HỘI ĐỒNG PHẢN BIỆN ĐÃ LẮNG NGHE</a:t>
            </a:r>
            <a:endParaRPr sz="18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57200" y="2834640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Nguyễn Văn An  &amp;  Trương Gia Hào</a:t>
            </a:r>
            <a:endParaRPr sz="16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57200" y="321868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 panose="020F0502020204030204"/>
              <a:buNone/>
            </a:pPr>
            <a:r>
              <a:rPr lang="en-US" sz="1200" i="0" u="none" strike="noStrike" cap="none">
                <a:solidFill>
                  <a:srgbClr val="6B7280"/>
                </a:solidFill>
                <a:latin typeface="Google Sans"/>
                <a:ea typeface="Google Sans"/>
                <a:cs typeface="Google Sans"/>
                <a:sym typeface="Google Sans"/>
              </a:rPr>
              <a:t>GVHD: TS. Phan Tấn Quốc  |  Trường ĐH Sài Gòn  |  2026</a:t>
            </a:r>
            <a:endParaRPr sz="1200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5632</Words>
  <Application>WPS Presentation</Application>
  <PresentationFormat/>
  <Paragraphs>445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Google Sans Medium</vt:lpstr>
      <vt:lpstr>Google Sans</vt:lpstr>
      <vt:lpstr>Consolas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PptxGenJS</dc:creator>
  <cp:lastModifiedBy>Gia Hào</cp:lastModifiedBy>
  <cp:revision>1</cp:revision>
  <dcterms:created xsi:type="dcterms:W3CDTF">2026-04-22T12:50:22Z</dcterms:created>
  <dcterms:modified xsi:type="dcterms:W3CDTF">2026-04-22T12:50:30Z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D26B465F4D7746E7B8034E364548D197_12</vt:lpwstr>
  </property>
</Properties>
</file>